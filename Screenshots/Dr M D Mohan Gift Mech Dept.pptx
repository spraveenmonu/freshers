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406640" y="274320"/>
            <a:ext cx="0" cy="612648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909560" y="274320"/>
            <a:ext cx="0" cy="612648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412480" y="274320"/>
            <a:ext cx="0" cy="612648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15400" y="274320"/>
            <a:ext cx="0" cy="612648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418320" y="274320"/>
            <a:ext cx="0" cy="612648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921240" y="274320"/>
            <a:ext cx="0" cy="612648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424160" y="274320"/>
            <a:ext cx="0" cy="612648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27080" y="274320"/>
            <a:ext cx="0" cy="612648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430000" y="274320"/>
            <a:ext cx="0" cy="612648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49440" y="457200"/>
            <a:ext cx="5029200" cy="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932688"/>
            <a:ext cx="5029200" cy="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49440" y="1408176"/>
            <a:ext cx="5029200" cy="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49440" y="1883664"/>
            <a:ext cx="5029200" cy="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49440" y="2359152"/>
            <a:ext cx="5029200" cy="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49440" y="2834640"/>
            <a:ext cx="5029200" cy="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0" y="3310128"/>
            <a:ext cx="5029200" cy="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49440" y="3785616"/>
            <a:ext cx="5029200" cy="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49440" y="4261104"/>
            <a:ext cx="5029200" cy="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49440" y="4736592"/>
            <a:ext cx="5029200" cy="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49440" y="5212080"/>
            <a:ext cx="5029200" cy="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49440" y="5687568"/>
            <a:ext cx="5029200" cy="0"/>
          </a:xfrm>
          <a:prstGeom prst="line">
            <a:avLst/>
          </a:prstGeom>
          <a:ln w="8890">
            <a:solidFill>
              <a:srgbClr val="EE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549640" y="2423160"/>
            <a:ext cx="2103120" cy="2103120"/>
          </a:xfrm>
          <a:prstGeom prst="ellipse">
            <a:avLst/>
          </a:prstGeom>
          <a:noFill/>
          <a:ln w="31750">
            <a:solidFill>
              <a:srgbClr val="35A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64700" y="3138220"/>
            <a:ext cx="672998" cy="672998"/>
          </a:xfrm>
          <a:prstGeom prst="ellipse">
            <a:avLst/>
          </a:prstGeom>
          <a:noFill/>
          <a:ln w="25400">
            <a:solidFill>
              <a:srgbClr val="35A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545317" y="3419856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 rot="1350000">
            <a:off x="10469275" y="3802149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 rot="2700000">
            <a:off x="10252722" y="4126242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 rot="4050000">
            <a:off x="9928629" y="4342795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 rot="5400000">
            <a:off x="9546336" y="4418838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 rot="6750000">
            <a:off x="9164042" y="4342795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 rot="8100000">
            <a:off x="8839949" y="4126242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 rot="9450000">
            <a:off x="8623396" y="3802149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 rot="10800000">
            <a:off x="8547354" y="3419856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 rot="12150000">
            <a:off x="8623396" y="3037562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 rot="13500000">
            <a:off x="8839949" y="2713469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 rot="14850000">
            <a:off x="9164042" y="2496916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 rot="16200000">
            <a:off x="9546336" y="2420874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 rot="17550000">
            <a:off x="9928629" y="2496916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 rot="18900000">
            <a:off x="10252722" y="2713469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 rot="20250000">
            <a:off x="10469275" y="3037562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195560" y="3840480"/>
            <a:ext cx="1371600" cy="1371600"/>
          </a:xfrm>
          <a:prstGeom prst="ellipse">
            <a:avLst/>
          </a:prstGeom>
          <a:noFill/>
          <a:ln w="31750">
            <a:solidFill>
              <a:srgbClr val="1F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661904" y="4306824"/>
            <a:ext cx="438912" cy="438912"/>
          </a:xfrm>
          <a:prstGeom prst="ellipse">
            <a:avLst/>
          </a:prstGeom>
          <a:noFill/>
          <a:ln w="25400">
            <a:solidFill>
              <a:srgbClr val="1F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478006" y="4471416"/>
            <a:ext cx="109728" cy="109728"/>
          </a:xfrm>
          <a:prstGeom prst="rect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 rot="1800000">
            <a:off x="11390720" y="4797171"/>
            <a:ext cx="109728" cy="109728"/>
          </a:xfrm>
          <a:prstGeom prst="rect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 rot="3600000">
            <a:off x="11152251" y="5035640"/>
            <a:ext cx="109728" cy="109728"/>
          </a:xfrm>
          <a:prstGeom prst="rect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 rot="5400000">
            <a:off x="10826496" y="5122926"/>
            <a:ext cx="109728" cy="109728"/>
          </a:xfrm>
          <a:prstGeom prst="rect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 rot="7200000">
            <a:off x="10500741" y="5035640"/>
            <a:ext cx="109728" cy="109728"/>
          </a:xfrm>
          <a:prstGeom prst="rect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 rot="9000000">
            <a:off x="10262271" y="4797171"/>
            <a:ext cx="109728" cy="109728"/>
          </a:xfrm>
          <a:prstGeom prst="rect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 rot="10800000">
            <a:off x="10174986" y="4471416"/>
            <a:ext cx="109728" cy="109728"/>
          </a:xfrm>
          <a:prstGeom prst="rect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 rot="12600000">
            <a:off x="10262271" y="4145661"/>
            <a:ext cx="109728" cy="109728"/>
          </a:xfrm>
          <a:prstGeom prst="rect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 rot="14400000">
            <a:off x="10500740" y="3907191"/>
            <a:ext cx="109728" cy="109728"/>
          </a:xfrm>
          <a:prstGeom prst="rect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 rot="16200000">
            <a:off x="10826496" y="3819906"/>
            <a:ext cx="109728" cy="109728"/>
          </a:xfrm>
          <a:prstGeom prst="rect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 rot="18000000">
            <a:off x="11152251" y="3907191"/>
            <a:ext cx="109728" cy="109728"/>
          </a:xfrm>
          <a:prstGeom prst="rect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 rot="19800000">
            <a:off x="11390720" y="4145661"/>
            <a:ext cx="109728" cy="109728"/>
          </a:xfrm>
          <a:prstGeom prst="rect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594360"/>
            <a:ext cx="6413743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dirty="0">
                <a:solidFill>
                  <a:srgbClr val="1F69B0"/>
                </a:solidFill>
                <a:latin typeface="Aptos"/>
              </a:rPr>
              <a:t>GRACE COLLEGE OF ENGINEERING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1234440"/>
            <a:ext cx="6583680" cy="1325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500" b="1" dirty="0">
                <a:solidFill>
                  <a:srgbClr val="142036"/>
                </a:solidFill>
                <a:latin typeface="Aptos"/>
              </a:rPr>
              <a:t>Department of
Mechanical Engineering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2761488"/>
            <a:ext cx="630936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C6978"/>
                </a:solidFill>
                <a:latin typeface="Aptos"/>
              </a:rPr>
              <a:t>Academic Leadership • Engineering Education • Innovation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3703320"/>
            <a:ext cx="61264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232B34"/>
                </a:solidFill>
                <a:latin typeface="Aptos"/>
              </a:rPr>
              <a:t>Dr. M. D. Mohan Gift, B.E., M.E., Ph.D.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4187952"/>
            <a:ext cx="292608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F69B0"/>
                </a:solidFill>
                <a:latin typeface="Aptos"/>
              </a:rPr>
              <a:t>Professor &amp; Head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172200"/>
            <a:ext cx="6400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61414" y="460945"/>
            <a:ext cx="1638397" cy="2431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00" b="1" dirty="0">
                <a:solidFill>
                  <a:srgbClr val="1F69B0"/>
                </a:solidFill>
                <a:latin typeface="Aptos"/>
              </a:rPr>
              <a:t>LEADERSHIP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6278" y="749808"/>
            <a:ext cx="3486083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800" b="1" dirty="0">
                <a:solidFill>
                  <a:srgbClr val="142036"/>
                </a:solidFill>
                <a:latin typeface="Aptos"/>
              </a:rPr>
              <a:t>Dr. M. D. Mohan Gift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80643" y="1413294"/>
            <a:ext cx="5667414" cy="210997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81810" y="1577886"/>
            <a:ext cx="2980944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 dirty="0">
                <a:solidFill>
                  <a:srgbClr val="1F69B0"/>
                </a:solidFill>
                <a:latin typeface="Aptos"/>
              </a:rPr>
              <a:t>CURRENT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1810" y="1943646"/>
            <a:ext cx="5400646" cy="118186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0" dirty="0">
                <a:solidFill>
                  <a:srgbClr val="232B34"/>
                </a:solidFill>
                <a:latin typeface="Aptos"/>
              </a:rPr>
              <a:t>Professor &amp; Head
Department of Mechanical Engineering
Grace College of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2874" y="3859874"/>
            <a:ext cx="3383280" cy="193796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05210" y="3921036"/>
            <a:ext cx="2980944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 dirty="0">
                <a:solidFill>
                  <a:srgbClr val="35AED0"/>
                </a:solidFill>
                <a:latin typeface="Aptos"/>
              </a:rPr>
              <a:t>ACADEMIC QUALIFICATION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9848" y="4385047"/>
            <a:ext cx="843308" cy="155119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0" dirty="0">
                <a:solidFill>
                  <a:srgbClr val="232B34"/>
                </a:solidFill>
                <a:latin typeface="Aptos"/>
              </a:rPr>
              <a:t>B.E.
M.E.
Ph.D.
</a:t>
            </a:r>
            <a:r>
              <a:rPr sz="1200" b="0" dirty="0">
                <a:solidFill>
                  <a:srgbClr val="232B34"/>
                </a:solidFill>
                <a:latin typeface="Aptos"/>
              </a:rPr>
              <a:t>
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9746" y="4082482"/>
            <a:ext cx="2512752" cy="970990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91984" y="4114953"/>
            <a:ext cx="2058384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1" dirty="0">
                <a:solidFill>
                  <a:srgbClr val="DD9731"/>
                </a:solidFill>
                <a:latin typeface="Aptos"/>
              </a:rPr>
              <a:t>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1984" y="4480713"/>
            <a:ext cx="1425198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400" b="0" dirty="0" smtClean="0">
                <a:solidFill>
                  <a:srgbClr val="232B34"/>
                </a:solidFill>
                <a:latin typeface="Aptos"/>
              </a:rPr>
              <a:t>26 years</a:t>
            </a:r>
            <a:r>
              <a:rPr lang="en-IN" sz="2400" b="0" dirty="0" smtClean="0">
                <a:solidFill>
                  <a:srgbClr val="232B34"/>
                </a:solidFill>
                <a:latin typeface="Aptos"/>
              </a:rPr>
              <a:t>. </a:t>
            </a:r>
            <a:endParaRPr sz="2400" b="0" dirty="0">
              <a:solidFill>
                <a:srgbClr val="232B34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49165" y="462705"/>
            <a:ext cx="45720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 dirty="0">
                <a:solidFill>
                  <a:srgbClr val="1F69B0"/>
                </a:solidFill>
                <a:latin typeface="Aptos"/>
              </a:rPr>
              <a:t>DEPARTMENT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42036"/>
                </a:solidFill>
                <a:latin typeface="Aptos"/>
              </a:rPr>
              <a:t>A four-year B.E. Mechanical Engineering programme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6388" y="1488335"/>
            <a:ext cx="9745681" cy="59708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 dirty="0">
                <a:solidFill>
                  <a:srgbClr val="232B34"/>
                </a:solidFill>
                <a:latin typeface="Aptos"/>
              </a:rPr>
              <a:t>The department describes a long-standing academic record in education, </a:t>
            </a:r>
            <a:endParaRPr lang="en-IN" sz="17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700" b="0" dirty="0" smtClean="0">
                <a:solidFill>
                  <a:srgbClr val="232B34"/>
                </a:solidFill>
                <a:latin typeface="Aptos"/>
              </a:rPr>
              <a:t>placement </a:t>
            </a:r>
            <a:r>
              <a:rPr sz="1700" b="0" dirty="0">
                <a:solidFill>
                  <a:srgbClr val="232B34"/>
                </a:solidFill>
                <a:latin typeface="Aptos"/>
              </a:rPr>
              <a:t>and research, with the B.E. </a:t>
            </a:r>
            <a:r>
              <a:rPr sz="1700" b="0" dirty="0" err="1">
                <a:solidFill>
                  <a:srgbClr val="232B34"/>
                </a:solidFill>
                <a:latin typeface="Aptos"/>
              </a:rPr>
              <a:t>programme</a:t>
            </a:r>
            <a:r>
              <a:rPr sz="1700" b="0" dirty="0">
                <a:solidFill>
                  <a:srgbClr val="232B34"/>
                </a:solidFill>
                <a:latin typeface="Aptos"/>
              </a:rPr>
              <a:t> offered since the institution was founded in 2009.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3383280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679192"/>
            <a:ext cx="2454326" cy="3816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 dirty="0">
                <a:solidFill>
                  <a:srgbClr val="1F69B0"/>
                </a:solidFill>
                <a:latin typeface="Aptos"/>
              </a:rPr>
              <a:t>Engineering 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44952"/>
            <a:ext cx="2980944" cy="640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9120" y="2514600"/>
            <a:ext cx="3383280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679192"/>
            <a:ext cx="2068002" cy="3816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35AED0"/>
                </a:solidFill>
                <a:latin typeface="Aptos"/>
              </a:rPr>
              <a:t>Fluid Mechanics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044952"/>
            <a:ext cx="2980944" cy="640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2440" y="2514600"/>
            <a:ext cx="3383280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2679192"/>
            <a:ext cx="2197846" cy="3816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F69B0"/>
                </a:solidFill>
                <a:latin typeface="Aptos"/>
              </a:rPr>
              <a:t>Thermodynamics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3044952"/>
            <a:ext cx="2980944" cy="640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5800" y="3520440"/>
            <a:ext cx="3383280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685032"/>
            <a:ext cx="1840376" cy="3816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35AED0"/>
                </a:solidFill>
                <a:latin typeface="Aptos"/>
              </a:rPr>
              <a:t>Manufacturing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050791"/>
            <a:ext cx="2980944" cy="640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89120" y="3520440"/>
            <a:ext cx="3383280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3685032"/>
            <a:ext cx="2680606" cy="3816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F69B0"/>
                </a:solidFill>
                <a:latin typeface="Aptos"/>
              </a:rPr>
              <a:t>Heat &amp; Mass Transfer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050791"/>
            <a:ext cx="2980944" cy="640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92440" y="3520440"/>
            <a:ext cx="3383280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93608" y="3685032"/>
            <a:ext cx="2621039" cy="3816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35AED0"/>
                </a:solidFill>
                <a:latin typeface="Aptos"/>
              </a:rPr>
              <a:t>Strength of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4050791"/>
            <a:ext cx="2980944" cy="640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5800" y="4526280"/>
            <a:ext cx="3383280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886968" y="4690872"/>
            <a:ext cx="2980944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F69B0"/>
                </a:solidFill>
                <a:latin typeface="Aptos"/>
              </a:rPr>
              <a:t>Kinematics &amp; Dynamics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056632"/>
            <a:ext cx="2980944" cy="640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389120" y="4526280"/>
            <a:ext cx="3383280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0288" y="4690872"/>
            <a:ext cx="1399550" cy="3816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35AED0"/>
                </a:solidFill>
                <a:latin typeface="Aptos"/>
              </a:rPr>
              <a:t>IC Engines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5056632"/>
            <a:ext cx="2980944" cy="640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92440" y="4526280"/>
            <a:ext cx="3383280" cy="74980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93608" y="4690872"/>
            <a:ext cx="1171924" cy="3816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F69B0"/>
                </a:solidFill>
                <a:latin typeface="Aptos"/>
              </a:rPr>
              <a:t>Robotics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5056632"/>
            <a:ext cx="2980944" cy="640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650992"/>
            <a:ext cx="2279598" cy="3508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b="1" dirty="0">
                <a:solidFill>
                  <a:srgbClr val="1F69B0"/>
                </a:solidFill>
                <a:latin typeface="Aptos"/>
              </a:rPr>
              <a:t>Departmental 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81622" y="5535192"/>
            <a:ext cx="8012002" cy="62786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232B34"/>
                </a:solidFill>
                <a:latin typeface="Aptos"/>
              </a:rPr>
              <a:t>To be internationally recognized for Mechanical Engineering education and to </a:t>
            </a:r>
            <a:endParaRPr lang="en-IN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b="0" dirty="0" smtClean="0">
                <a:solidFill>
                  <a:srgbClr val="232B34"/>
                </a:solidFill>
                <a:latin typeface="Aptos"/>
              </a:rPr>
              <a:t>develop </a:t>
            </a:r>
            <a:r>
              <a:rPr b="0" dirty="0">
                <a:solidFill>
                  <a:srgbClr val="232B34"/>
                </a:solidFill>
                <a:latin typeface="Aptos"/>
              </a:rPr>
              <a:t>well-qualified, innovative engineers prepared for advanced studies.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473952"/>
            <a:ext cx="32918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5C6978"/>
                </a:solidFill>
                <a:latin typeface="Aptos"/>
              </a:rPr>
              <a:t>GRACE COLLEGE OF ENGINEERING  •  MECHANICAL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69828" y="484632"/>
            <a:ext cx="45720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 dirty="0">
                <a:solidFill>
                  <a:srgbClr val="1F69B0"/>
                </a:solidFill>
                <a:latin typeface="Aptos"/>
              </a:rP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5109" y="749808"/>
            <a:ext cx="5708421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800" b="1" dirty="0">
                <a:solidFill>
                  <a:srgbClr val="142036"/>
                </a:solidFill>
                <a:latin typeface="Aptos"/>
              </a:rPr>
              <a:t>Mission &amp; graduate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1600200"/>
            <a:ext cx="411480" cy="411480"/>
          </a:xfrm>
          <a:prstGeom prst="ellipse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636776"/>
            <a:ext cx="4114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211" y="1629451"/>
            <a:ext cx="1447640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69B0"/>
                </a:solidFill>
                <a:latin typeface="Aptos"/>
              </a:rPr>
              <a:t>EXCELLENCE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1" y="1618440"/>
            <a:ext cx="5939255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Educate, prepare and mentor students to excel as professionals.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468880"/>
            <a:ext cx="411480" cy="411480"/>
          </a:xfrm>
          <a:prstGeom prst="ellipse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505456"/>
            <a:ext cx="4114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211" y="2498131"/>
            <a:ext cx="1178208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69B0"/>
                </a:solidFill>
                <a:latin typeface="Aptos"/>
              </a:rPr>
              <a:t>FACILITIES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1" y="2487120"/>
            <a:ext cx="6740756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Provide facilities and an environment conducive to high-quality education.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337560"/>
            <a:ext cx="411480" cy="411480"/>
          </a:xfrm>
          <a:prstGeom prst="ellipse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374136"/>
            <a:ext cx="4114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211" y="3366811"/>
            <a:ext cx="1072538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69B0"/>
                </a:solidFill>
                <a:latin typeface="Aptos"/>
              </a:rPr>
              <a:t>CAREERS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1" y="3355800"/>
            <a:ext cx="7303410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Prepare graduates for diverse careers and research in Mechanical Engineering.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4206240"/>
            <a:ext cx="411480" cy="411480"/>
          </a:xfrm>
          <a:prstGeom prst="ellipse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4242816"/>
            <a:ext cx="4114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211" y="4198915"/>
            <a:ext cx="1563057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69B0"/>
                </a:solidFill>
                <a:latin typeface="Aptos"/>
              </a:rPr>
              <a:t>SCHOLARSHIP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1" y="4187904"/>
            <a:ext cx="4929363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Engage students in academic and scholarly activities.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" y="5074920"/>
            <a:ext cx="411480" cy="411480"/>
          </a:xfrm>
          <a:prstGeom prst="ellipse">
            <a:avLst/>
          </a:prstGeom>
          <a:solidFill>
            <a:srgbClr val="1F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5111496"/>
            <a:ext cx="4114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211" y="5056632"/>
            <a:ext cx="2237920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69B0"/>
                </a:solidFill>
                <a:latin typeface="Aptos"/>
              </a:rPr>
              <a:t>LIFELONG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1" y="5045621"/>
            <a:ext cx="7019679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Enable graduates to adapt to evolving technologies throughout their careers.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89611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C6978"/>
                </a:solidFill>
                <a:latin typeface="Aptos"/>
              </a:rPr>
              <a:t>Source: Official Mechanical Engineering department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473952"/>
            <a:ext cx="32918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5C6978"/>
                </a:solidFill>
                <a:latin typeface="Aptos"/>
              </a:rPr>
              <a:t>GRACE COLLEGE OF ENGINEERING  •  MECHANICAL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7567" y="411480"/>
            <a:ext cx="1205586" cy="2431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00" b="1" dirty="0">
                <a:solidFill>
                  <a:srgbClr val="1F69B0"/>
                </a:solidFill>
                <a:latin typeface="Aptos"/>
              </a:rPr>
              <a:t>LABORATORIES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56800" y="749808"/>
            <a:ext cx="6465039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800" b="1">
                <a:solidFill>
                  <a:srgbClr val="142036"/>
                </a:solidFill>
                <a:latin typeface="Aptos"/>
              </a:rPr>
              <a:t>From theory to hands-on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212080" cy="93268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34509" y="1593930"/>
            <a:ext cx="2679516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F69B0"/>
                </a:solidFill>
                <a:latin typeface="Aptos"/>
              </a:rPr>
              <a:t>Manufacturing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3554" y="1980076"/>
            <a:ext cx="4254498" cy="56630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232B34"/>
                </a:solidFill>
                <a:latin typeface="Aptos"/>
              </a:rPr>
              <a:t>Machining, lathe, shaping, drilling, milling and </a:t>
            </a:r>
            <a:endParaRPr lang="en-IN" sz="16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600" b="0" dirty="0" smtClean="0">
                <a:solidFill>
                  <a:srgbClr val="232B34"/>
                </a:solidFill>
                <a:latin typeface="Aptos"/>
              </a:rPr>
              <a:t>production </a:t>
            </a:r>
            <a:r>
              <a:rPr sz="1600" b="0" dirty="0">
                <a:solidFill>
                  <a:srgbClr val="232B34"/>
                </a:solidFill>
                <a:latin typeface="Aptos"/>
              </a:rPr>
              <a:t>practice.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72768"/>
            <a:ext cx="5212080" cy="93268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40990" y="1595687"/>
            <a:ext cx="2114490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35AED0"/>
                </a:solidFill>
                <a:latin typeface="Aptos"/>
              </a:rPr>
              <a:t>Thermal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0681" y="1943142"/>
            <a:ext cx="4270528" cy="56630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232B34"/>
                </a:solidFill>
                <a:latin typeface="Aptos"/>
              </a:rPr>
              <a:t>IC-engine principles, performance testing and </a:t>
            </a:r>
            <a:endParaRPr lang="en-IN" sz="1600" b="0" dirty="0" smtClean="0">
              <a:solidFill>
                <a:srgbClr val="232B34"/>
              </a:solidFill>
              <a:latin typeface="Aptos"/>
            </a:endParaRPr>
          </a:p>
          <a:p>
            <a:pPr algn="ctr"/>
            <a:r>
              <a:rPr sz="1600" b="0" dirty="0" smtClean="0">
                <a:solidFill>
                  <a:srgbClr val="232B34"/>
                </a:solidFill>
                <a:latin typeface="Aptos"/>
              </a:rPr>
              <a:t>experimental </a:t>
            </a:r>
            <a:r>
              <a:rPr sz="1600" b="0" dirty="0">
                <a:solidFill>
                  <a:srgbClr val="232B34"/>
                </a:solidFill>
                <a:latin typeface="Aptos"/>
              </a:rPr>
              <a:t>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74985"/>
            <a:ext cx="5212080" cy="93268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903554" y="2848137"/>
            <a:ext cx="1155894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DD9731"/>
                </a:solidFill>
                <a:latin typeface="Aptos"/>
              </a:rPr>
              <a:t>CAD / CAM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568" y="3182226"/>
            <a:ext cx="4453399" cy="56630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0" dirty="0">
                <a:solidFill>
                  <a:srgbClr val="232B34"/>
                </a:solidFill>
                <a:latin typeface="Aptos"/>
              </a:rPr>
              <a:t>AutoCAD, PRO-E, SolidWorks, CATIA, ANSYS, </a:t>
            </a:r>
            <a:endParaRPr lang="en-IN" sz="1600" b="0" dirty="0" smtClean="0">
              <a:solidFill>
                <a:srgbClr val="232B34"/>
              </a:solidFill>
              <a:latin typeface="Aptos"/>
            </a:endParaRPr>
          </a:p>
          <a:p>
            <a:pPr algn="ctr"/>
            <a:r>
              <a:rPr sz="1600" b="0" dirty="0" err="1" smtClean="0">
                <a:solidFill>
                  <a:srgbClr val="232B34"/>
                </a:solidFill>
                <a:latin typeface="Aptos"/>
              </a:rPr>
              <a:t>Edgecam</a:t>
            </a:r>
            <a:r>
              <a:rPr sz="1600" b="0" dirty="0" smtClean="0">
                <a:solidFill>
                  <a:srgbClr val="232B34"/>
                </a:solidFill>
                <a:latin typeface="Aptos"/>
              </a:rPr>
              <a:t> </a:t>
            </a:r>
            <a:r>
              <a:rPr sz="1600" b="0" dirty="0">
                <a:solidFill>
                  <a:srgbClr val="232B34"/>
                </a:solidFill>
                <a:latin typeface="Aptos"/>
              </a:rPr>
              <a:t>and CNC trainers.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2743200"/>
            <a:ext cx="5212080" cy="93268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27610" y="2834661"/>
            <a:ext cx="2776529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F69B0"/>
                </a:solidFill>
                <a:latin typeface="Aptos"/>
              </a:rPr>
              <a:t>Strength &amp; Fluid Mechanics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5" y="3147735"/>
            <a:ext cx="3497881" cy="56630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232B34"/>
                </a:solidFill>
                <a:latin typeface="Aptos"/>
              </a:rPr>
              <a:t>Material testing, pumps, turbines and </a:t>
            </a:r>
            <a:endParaRPr lang="en-IN" sz="16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600" b="0" dirty="0" smtClean="0">
                <a:solidFill>
                  <a:srgbClr val="232B34"/>
                </a:solidFill>
                <a:latin typeface="Aptos"/>
              </a:rPr>
              <a:t>flow-measurement </a:t>
            </a:r>
            <a:r>
              <a:rPr sz="1600" b="0" dirty="0">
                <a:solidFill>
                  <a:srgbClr val="232B34"/>
                </a:solidFill>
                <a:latin typeface="Aptos"/>
              </a:rPr>
              <a:t>equipment.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13632"/>
            <a:ext cx="5212080" cy="93268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3329" y="3944538"/>
            <a:ext cx="2399824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35AED0"/>
                </a:solidFill>
                <a:latin typeface="Aptos"/>
              </a:rPr>
              <a:t>Kinematics &amp; Dynamics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568" y="4317452"/>
            <a:ext cx="3845733" cy="56630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232B34"/>
                </a:solidFill>
                <a:latin typeface="Aptos"/>
              </a:rPr>
              <a:t>Balancing, vibration, flywheels, gears </a:t>
            </a:r>
            <a:r>
              <a:rPr sz="1600" b="0" dirty="0" smtClean="0">
                <a:solidFill>
                  <a:srgbClr val="232B34"/>
                </a:solidFill>
                <a:latin typeface="Aptos"/>
              </a:rPr>
              <a:t>and</a:t>
            </a:r>
            <a:endParaRPr lang="en-IN" sz="1600" b="0" dirty="0" smtClean="0">
              <a:solidFill>
                <a:srgbClr val="232B34"/>
              </a:solidFill>
              <a:latin typeface="Aptos"/>
            </a:endParaRPr>
          </a:p>
          <a:p>
            <a:pPr algn="ctr"/>
            <a:r>
              <a:rPr sz="1600" b="0" dirty="0" smtClean="0">
                <a:solidFill>
                  <a:srgbClr val="232B34"/>
                </a:solidFill>
                <a:latin typeface="Aptos"/>
              </a:rPr>
              <a:t> </a:t>
            </a:r>
            <a:r>
              <a:rPr sz="1600" b="0" dirty="0">
                <a:solidFill>
                  <a:srgbClr val="232B34"/>
                </a:solidFill>
                <a:latin typeface="Aptos"/>
              </a:rPr>
              <a:t>machine-motion models.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3913632"/>
            <a:ext cx="5212080" cy="93268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7752" y="3933404"/>
            <a:ext cx="2754087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DD9731"/>
                </a:solidFill>
                <a:latin typeface="Aptos"/>
              </a:rPr>
              <a:t>Metrology &amp; Measurements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5029" y="4243958"/>
            <a:ext cx="5493620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232B34"/>
                </a:solidFill>
                <a:latin typeface="Aptos"/>
              </a:rPr>
              <a:t>Industry-oriented measurement and quality-control practice.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8466" y="5084064"/>
            <a:ext cx="7058048" cy="932688"/>
          </a:xfrm>
          <a:prstGeom prst="roundRect">
            <a:avLst/>
          </a:prstGeom>
          <a:solidFill>
            <a:srgbClr val="F2F6F9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09634" y="5280440"/>
            <a:ext cx="1396344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1F69B0"/>
                </a:solidFill>
                <a:latin typeface="Aptos"/>
              </a:rPr>
              <a:t>Mechatronics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9634" y="5614416"/>
            <a:ext cx="6630148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232B34"/>
                </a:solidFill>
                <a:latin typeface="Aptos"/>
              </a:rPr>
              <a:t>Electro-pneumatics, PLC, servo control and interdisciplinary automation.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89611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C6978"/>
                </a:solidFill>
                <a:latin typeface="Aptos"/>
              </a:rPr>
              <a:t>Source: Official Mechanical Engineering department page; 2024 Mandatory Disclosure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6473952"/>
            <a:ext cx="32918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5C6978"/>
                </a:solidFill>
                <a:latin typeface="Aptos"/>
              </a:rPr>
              <a:t>GRACE COLLEGE OF ENGINEERING  •  MECHANICAL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4711" y="411480"/>
            <a:ext cx="1691297" cy="243143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00" b="1" dirty="0">
                <a:solidFill>
                  <a:srgbClr val="1F69B0"/>
                </a:solidFill>
                <a:latin typeface="Aptos"/>
              </a:rPr>
              <a:t>ACADEMIC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85416" y="749808"/>
            <a:ext cx="5807808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800" b="1" dirty="0">
                <a:solidFill>
                  <a:srgbClr val="142036"/>
                </a:solidFill>
                <a:latin typeface="Aptos"/>
              </a:rPr>
              <a:t>What students are prepared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939" y="1828800"/>
            <a:ext cx="2457571" cy="3383280"/>
          </a:xfrm>
          <a:prstGeom prst="roundRect">
            <a:avLst/>
          </a:prstGeom>
          <a:solidFill>
            <a:srgbClr val="F2F6F9"/>
          </a:solidFill>
          <a:ln>
            <a:solidFill>
              <a:srgbClr val="E1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2057400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DD973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651760"/>
            <a:ext cx="164592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dirty="0">
                <a:solidFill>
                  <a:srgbClr val="1F69B0"/>
                </a:solidFill>
                <a:latin typeface="Aptos"/>
              </a:rPr>
              <a:t>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08" y="3063240"/>
            <a:ext cx="2446029" cy="11510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dirty="0">
                <a:solidFill>
                  <a:srgbClr val="232B34"/>
                </a:solidFill>
                <a:latin typeface="Aptos"/>
              </a:rPr>
              <a:t>Apply mathematics,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science 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and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engineering 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knowledge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to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model 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industrial problems.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5237" y="1833452"/>
            <a:ext cx="2011680" cy="3383280"/>
          </a:xfrm>
          <a:prstGeom prst="roundRect">
            <a:avLst/>
          </a:prstGeom>
          <a:solidFill>
            <a:srgbClr val="F2F6F9"/>
          </a:solidFill>
          <a:ln>
            <a:solidFill>
              <a:srgbClr val="E1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72384" y="2057400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DD973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651760"/>
            <a:ext cx="164592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69B0"/>
                </a:solidFill>
                <a:latin typeface="Aptos"/>
              </a:rP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7070" y="3049244"/>
            <a:ext cx="1854803" cy="93564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dirty="0">
                <a:solidFill>
                  <a:srgbClr val="232B34"/>
                </a:solidFill>
                <a:latin typeface="Aptos"/>
              </a:rPr>
              <a:t>Design mechanical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systems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, components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and 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processes </a:t>
            </a:r>
            <a:r>
              <a:rPr sz="1400" b="0" dirty="0" smtClean="0">
                <a:solidFill>
                  <a:srgbClr val="232B34"/>
                </a:solidFill>
                <a:latin typeface="Aptos"/>
              </a:rPr>
              <a:t>within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 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realistic constraints.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1828800"/>
            <a:ext cx="2011680" cy="3383280"/>
          </a:xfrm>
          <a:prstGeom prst="roundRect">
            <a:avLst/>
          </a:prstGeom>
          <a:solidFill>
            <a:srgbClr val="F2F6F9"/>
          </a:solidFill>
          <a:ln>
            <a:solidFill>
              <a:srgbClr val="E1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0096" y="2057400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DD9731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651760"/>
            <a:ext cx="164592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69B0"/>
                </a:solidFill>
                <a:latin typeface="Aptos"/>
              </a:rPr>
              <a:t>EXPERIMENT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6120" y="3049244"/>
            <a:ext cx="1635191" cy="93564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dirty="0">
                <a:solidFill>
                  <a:srgbClr val="232B34"/>
                </a:solidFill>
                <a:latin typeface="Aptos"/>
              </a:rPr>
              <a:t>Plan experiments,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err="1" smtClean="0">
                <a:solidFill>
                  <a:srgbClr val="232B34"/>
                </a:solidFill>
                <a:latin typeface="Aptos"/>
              </a:rPr>
              <a:t>analyse</a:t>
            </a:r>
            <a:r>
              <a:rPr sz="1400" b="0" dirty="0" smtClean="0">
                <a:solidFill>
                  <a:srgbClr val="232B34"/>
                </a:solidFill>
                <a:latin typeface="Aptos"/>
              </a:rPr>
              <a:t> 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data and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interpret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engineering 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results.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3215" y="1828800"/>
            <a:ext cx="2011680" cy="3383280"/>
          </a:xfrm>
          <a:prstGeom prst="roundRect">
            <a:avLst/>
          </a:prstGeom>
          <a:solidFill>
            <a:srgbClr val="F2F6F9"/>
          </a:solidFill>
          <a:ln>
            <a:solidFill>
              <a:srgbClr val="E1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7" y="2057400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DD9731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2651760"/>
            <a:ext cx="164592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F69B0"/>
                </a:solidFill>
                <a:latin typeface="Aptos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8857" y="2949550"/>
            <a:ext cx="1535805" cy="13665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dirty="0">
                <a:solidFill>
                  <a:srgbClr val="232B34"/>
                </a:solidFill>
                <a:latin typeface="Aptos"/>
              </a:rPr>
              <a:t>Use modern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engineering 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tools,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software 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and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equipment 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for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multidisciplinary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problems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0928" y="1828800"/>
            <a:ext cx="2011680" cy="3383280"/>
          </a:xfrm>
          <a:prstGeom prst="roundRect">
            <a:avLst/>
          </a:prstGeom>
          <a:solidFill>
            <a:srgbClr val="F2F6F9"/>
          </a:solidFill>
          <a:ln>
            <a:solidFill>
              <a:srgbClr val="E1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19" y="2057400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DD9731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2651760"/>
            <a:ext cx="1639744" cy="53553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dirty="0">
                <a:solidFill>
                  <a:srgbClr val="1F69B0"/>
                </a:solidFill>
                <a:latin typeface="Aptos"/>
              </a:rPr>
              <a:t>PROFESSIONAL </a:t>
            </a:r>
            <a:endParaRPr lang="en-IN" sz="1500" b="1" dirty="0" smtClean="0">
              <a:solidFill>
                <a:srgbClr val="1F69B0"/>
              </a:solidFill>
              <a:latin typeface="Aptos"/>
            </a:endParaRPr>
          </a:p>
          <a:p>
            <a:pPr algn="l"/>
            <a:r>
              <a:rPr sz="1500" b="1" dirty="0" smtClean="0">
                <a:solidFill>
                  <a:srgbClr val="1F69B0"/>
                </a:solidFill>
                <a:latin typeface="Aptos"/>
              </a:rPr>
              <a:t>PRACTICE</a:t>
            </a:r>
            <a:endParaRPr sz="1500" b="1" dirty="0">
              <a:solidFill>
                <a:srgbClr val="1F69B0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848012" y="3241981"/>
            <a:ext cx="1933350" cy="93564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dirty="0">
                <a:solidFill>
                  <a:srgbClr val="232B34"/>
                </a:solidFill>
                <a:latin typeface="Aptos"/>
              </a:rPr>
              <a:t>Communicate,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lead 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teams,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uphold 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ethics and </a:t>
            </a:r>
            <a:endParaRPr lang="en-IN" sz="1400" b="0" dirty="0" smtClean="0">
              <a:solidFill>
                <a:srgbClr val="232B34"/>
              </a:solidFill>
              <a:latin typeface="Aptos"/>
            </a:endParaRPr>
          </a:p>
          <a:p>
            <a:pPr algn="l"/>
            <a:r>
              <a:rPr sz="1400" b="0" dirty="0" smtClean="0">
                <a:solidFill>
                  <a:srgbClr val="232B34"/>
                </a:solidFill>
                <a:latin typeface="Aptos"/>
              </a:rPr>
              <a:t>adapt </a:t>
            </a:r>
            <a:r>
              <a:rPr sz="1400" b="0" dirty="0">
                <a:solidFill>
                  <a:srgbClr val="232B34"/>
                </a:solidFill>
                <a:latin typeface="Aptos"/>
              </a:rPr>
              <a:t>to global change.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89611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5C6978"/>
                </a:solidFill>
                <a:latin typeface="Aptos"/>
              </a:rPr>
              <a:t>Source: Official Mechanical Engineering department page — Programme Outcomes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473952"/>
            <a:ext cx="329184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5C6978"/>
                </a:solidFill>
                <a:latin typeface="Aptos"/>
              </a:rPr>
              <a:t>GRACE COLLEGE OF ENGINEERING  •  MECHANICAL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83480" y="571500"/>
            <a:ext cx="45720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00" b="1" dirty="0">
                <a:solidFill>
                  <a:srgbClr val="1F69B0"/>
                </a:solidFill>
                <a:latin typeface="Aptos"/>
              </a:rPr>
              <a:t>FACULTY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825698"/>
            <a:ext cx="5953168" cy="50475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800" b="1" dirty="0">
                <a:solidFill>
                  <a:srgbClr val="142036"/>
                </a:solidFill>
                <a:latin typeface="Aptos"/>
              </a:rPr>
              <a:t>A multidisciplinary academic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5C6978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246" y="2281428"/>
            <a:ext cx="10789920" cy="658368"/>
          </a:xfrm>
          <a:prstGeom prst="roundRect">
            <a:avLst/>
          </a:prstGeom>
          <a:solidFill>
            <a:srgbClr val="E9F3F9"/>
          </a:solidFill>
          <a:ln>
            <a:solidFill>
              <a:srgbClr val="E1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3846" y="2436876"/>
            <a:ext cx="40233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dirty="0">
                <a:solidFill>
                  <a:srgbClr val="142036"/>
                </a:solidFill>
                <a:latin typeface="Aptos"/>
              </a:rPr>
              <a:t>Dr. M. D. Mohan Gift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5806" y="2436876"/>
            <a:ext cx="28346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F69B0"/>
                </a:solidFill>
                <a:latin typeface="Aptos"/>
              </a:rPr>
              <a:t>Professor &amp; 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1788"/>
            <a:ext cx="10789920" cy="658368"/>
          </a:xfrm>
          <a:prstGeom prst="roundRect">
            <a:avLst/>
          </a:prstGeom>
          <a:solidFill>
            <a:srgbClr val="F2F6F9"/>
          </a:solidFill>
          <a:ln>
            <a:solidFill>
              <a:srgbClr val="E1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307236"/>
            <a:ext cx="40233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Dr. G. Alagarsamy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307236"/>
            <a:ext cx="28346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F69B0"/>
                </a:solidFill>
                <a:latin typeface="Aptos"/>
              </a:rPr>
              <a:t>Assistant Professor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246" y="1387602"/>
            <a:ext cx="10789920" cy="658368"/>
          </a:xfrm>
          <a:prstGeom prst="roundRect">
            <a:avLst/>
          </a:prstGeom>
          <a:solidFill>
            <a:srgbClr val="F2F6F9"/>
          </a:solidFill>
          <a:ln>
            <a:solidFill>
              <a:srgbClr val="E1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3846" y="1543050"/>
            <a:ext cx="40233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dirty="0">
                <a:solidFill>
                  <a:srgbClr val="142036"/>
                </a:solidFill>
                <a:latin typeface="Aptos"/>
              </a:rPr>
              <a:t>Dr. H. </a:t>
            </a:r>
            <a:r>
              <a:rPr sz="1400" b="1" dirty="0" err="1">
                <a:solidFill>
                  <a:srgbClr val="142036"/>
                </a:solidFill>
                <a:latin typeface="Aptos"/>
              </a:rPr>
              <a:t>Kanagasabapathy</a:t>
            </a:r>
            <a:endParaRPr sz="1400" b="1" dirty="0">
              <a:solidFill>
                <a:srgbClr val="142036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35806" y="1543050"/>
            <a:ext cx="28346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F69B0"/>
                </a:solidFill>
                <a:latin typeface="Aptos"/>
              </a:rPr>
              <a:t>Professor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23944"/>
            <a:ext cx="10789920" cy="658368"/>
          </a:xfrm>
          <a:prstGeom prst="roundRect">
            <a:avLst/>
          </a:prstGeom>
          <a:solidFill>
            <a:srgbClr val="F2F6F9"/>
          </a:solidFill>
          <a:ln>
            <a:solidFill>
              <a:srgbClr val="E1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279392"/>
            <a:ext cx="40233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Mr. P. Thanga Kumar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279392"/>
            <a:ext cx="28346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F69B0"/>
                </a:solidFill>
                <a:latin typeface="Aptos"/>
              </a:rPr>
              <a:t>Assistant Professor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65192"/>
            <a:ext cx="10789920" cy="658368"/>
          </a:xfrm>
          <a:prstGeom prst="roundRect">
            <a:avLst/>
          </a:prstGeom>
          <a:solidFill>
            <a:srgbClr val="F2F6F9"/>
          </a:solidFill>
          <a:ln>
            <a:solidFill>
              <a:srgbClr val="E1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120640"/>
            <a:ext cx="40233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42036"/>
                </a:solidFill>
                <a:latin typeface="Aptos"/>
              </a:rPr>
              <a:t>Mr. R. Rajesh Kumar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120640"/>
            <a:ext cx="283464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F69B0"/>
                </a:solidFill>
                <a:latin typeface="Aptos"/>
              </a:rPr>
              <a:t>Assistant Professor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58200" y="1783080"/>
            <a:ext cx="2834640" cy="2834640"/>
          </a:xfrm>
          <a:prstGeom prst="ellipse">
            <a:avLst/>
          </a:prstGeom>
          <a:noFill/>
          <a:ln w="31750">
            <a:solidFill>
              <a:srgbClr val="35A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21977" y="2746857"/>
            <a:ext cx="907084" cy="907084"/>
          </a:xfrm>
          <a:prstGeom prst="ellipse">
            <a:avLst/>
          </a:prstGeom>
          <a:noFill/>
          <a:ln w="25400">
            <a:solidFill>
              <a:srgbClr val="35A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67110" y="3145536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1200000">
            <a:off x="11085908" y="3606050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2400000">
            <a:off x="10852099" y="4011019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3600000">
            <a:off x="10493883" y="4311599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4800000">
            <a:off x="10054465" y="4471534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6000000">
            <a:off x="9586846" y="4471534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 rot="7200000">
            <a:off x="9147429" y="4311599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 rot="8400000">
            <a:off x="8789212" y="4011019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9600000">
            <a:off x="8555403" y="3606050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 rot="10800000">
            <a:off x="8474202" y="3145536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 rot="12000000">
            <a:off x="8555403" y="2685021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 rot="13200000">
            <a:off x="8789212" y="2280052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 rot="14400000">
            <a:off x="9147429" y="1979472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rot="15600000">
            <a:off x="9586846" y="1819537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16800000">
            <a:off x="10054465" y="1819537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 rot="18000000">
            <a:off x="10493882" y="1979472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 rot="19200000">
            <a:off x="10852099" y="2280052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 rot="20400000">
            <a:off x="11085908" y="2685021"/>
            <a:ext cx="109728" cy="109728"/>
          </a:xfrm>
          <a:prstGeom prst="rect">
            <a:avLst/>
          </a:prstGeom>
          <a:solidFill>
            <a:srgbClr val="35A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41280" y="3657600"/>
            <a:ext cx="1463040" cy="1463040"/>
          </a:xfrm>
          <a:prstGeom prst="ellipse">
            <a:avLst/>
          </a:prstGeom>
          <a:noFill/>
          <a:ln w="31750">
            <a:solidFill>
              <a:srgbClr val="DD9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738713" y="4155033"/>
            <a:ext cx="468172" cy="468172"/>
          </a:xfrm>
          <a:prstGeom prst="ellipse">
            <a:avLst/>
          </a:prstGeom>
          <a:noFill/>
          <a:ln w="25400">
            <a:solidFill>
              <a:srgbClr val="DD9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612880" y="4334256"/>
            <a:ext cx="109728" cy="109728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 rot="1800000">
            <a:off x="11519775" y="4681728"/>
            <a:ext cx="109728" cy="109728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 rot="3600000">
            <a:off x="11265408" y="4936095"/>
            <a:ext cx="109728" cy="109728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 rot="5400000">
            <a:off x="10917936" y="5029200"/>
            <a:ext cx="109728" cy="109728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 rot="7200000">
            <a:off x="10570464" y="4936095"/>
            <a:ext cx="109728" cy="109728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 rot="9000000">
            <a:off x="10316096" y="4681728"/>
            <a:ext cx="109728" cy="109728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 rot="10800000">
            <a:off x="10222992" y="4334256"/>
            <a:ext cx="109728" cy="109728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 rot="12600000">
            <a:off x="10316096" y="3986784"/>
            <a:ext cx="109728" cy="109728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 rot="14400000">
            <a:off x="10570463" y="3732416"/>
            <a:ext cx="109728" cy="109728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 rot="16200000">
            <a:off x="10917936" y="3639312"/>
            <a:ext cx="109728" cy="109728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 rot="18000000">
            <a:off x="11265408" y="3732416"/>
            <a:ext cx="109728" cy="109728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 rot="19800000">
            <a:off x="11519775" y="3986784"/>
            <a:ext cx="109728" cy="109728"/>
          </a:xfrm>
          <a:prstGeom prst="rect">
            <a:avLst/>
          </a:prstGeom>
          <a:solidFill>
            <a:srgbClr val="DD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45216" y="238492"/>
            <a:ext cx="7242817" cy="6894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4000" b="1">
                <a:solidFill>
                  <a:srgbClr val="35AED0"/>
                </a:solidFill>
                <a:latin typeface="Aptos"/>
              </a:rPr>
              <a:t>MECHANICAL ENGINEERING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1234440"/>
            <a:ext cx="6766560" cy="20574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3300" b="1" dirty="0">
                <a:solidFill>
                  <a:srgbClr val="FFFFFF"/>
                </a:solidFill>
                <a:latin typeface="Aptos"/>
              </a:rPr>
              <a:t>Engineering the future
with competence,
character &amp; innovation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3886200"/>
            <a:ext cx="539496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Dr. M. D. Mohan Gift, Professor &amp; Head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370832"/>
            <a:ext cx="53949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CDD8E2"/>
                </a:solidFill>
                <a:latin typeface="Aptos"/>
              </a:rPr>
              <a:t>Grace College of Engineering • Thoothukudi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074920"/>
            <a:ext cx="56692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DD9731"/>
                </a:solidFill>
                <a:latin typeface="Aptos"/>
              </a:rPr>
              <a:t>“Excellence and Genuineness for Innovation”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8848" y="3354542"/>
            <a:ext cx="1286826" cy="3200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545</Words>
  <Application>Microsoft Office PowerPoint</Application>
  <PresentationFormat>Widescreen</PresentationFormat>
  <Paragraphs>135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GCOE_MECH</dc:creator>
  <cp:keywords/>
  <dc:description>generated using python-pptx</dc:description>
  <cp:lastModifiedBy>GCOE_MECH</cp:lastModifiedBy>
  <cp:revision>4</cp:revision>
  <dcterms:created xsi:type="dcterms:W3CDTF">2013-01-27T09:14:16Z</dcterms:created>
  <dcterms:modified xsi:type="dcterms:W3CDTF">2026-09-01T03:16:08Z</dcterms:modified>
  <cp:category/>
</cp:coreProperties>
</file>